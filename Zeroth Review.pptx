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3" r:id="rId2"/>
  </p:sldMasterIdLst>
  <p:notesMasterIdLst>
    <p:notesMasterId r:id="rId12"/>
  </p:notesMasterIdLst>
  <p:sldIdLst>
    <p:sldId id="256" r:id="rId3"/>
    <p:sldId id="257" r:id="rId4"/>
    <p:sldId id="276" r:id="rId5"/>
    <p:sldId id="268" r:id="rId6"/>
    <p:sldId id="267" r:id="rId7"/>
    <p:sldId id="260" r:id="rId8"/>
    <p:sldId id="263" r:id="rId9"/>
    <p:sldId id="265" r:id="rId10"/>
    <p:sldId id="266" r:id="rId11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2815142fa_4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6" name="Google Shape;116;g372815142fa_4_7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72815142fa_4_70:notes"/>
          <p:cNvSpPr txBox="1">
            <a:spLocks noGrp="1"/>
          </p:cNvSpPr>
          <p:nvPr>
            <p:ph type="dt" idx="10"/>
          </p:nvPr>
        </p:nvSpPr>
        <p:spPr>
          <a:xfrm>
            <a:off x="6905979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30 June 2023</a:t>
            </a:r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g372815142fa_4_70:notes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1-59</a:t>
            </a:r>
          </a:p>
        </p:txBody>
      </p:sp>
      <p:sp>
        <p:nvSpPr>
          <p:cNvPr id="119" name="Google Shape;119;g372815142fa_4_70:notes"/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 panose="020F0502020204030204"/>
                <a:buNone/>
              </a:pPr>
              <a:t>1</a:t>
            </a:fld>
            <a:endParaRPr sz="1200" b="0" i="0" u="none" strike="noStrike" cap="none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2815142fa_1_1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6" name="Google Shape;136;g372815142fa_1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1253767" y="2609333"/>
            <a:ext cx="9684465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>
                <a:solidFill>
                  <a:srgbClr val="0E6E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6193368" y="1859758"/>
            <a:ext cx="5389033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92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None/>
              <a:defRPr sz="1600" b="1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3"/>
          </p:nvPr>
        </p:nvSpPr>
        <p:spPr>
          <a:xfrm>
            <a:off x="609600" y="2514600"/>
            <a:ext cx="5386917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4"/>
          </p:nvPr>
        </p:nvSpPr>
        <p:spPr>
          <a:xfrm>
            <a:off x="6193368" y="2514600"/>
            <a:ext cx="5389033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4036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Char char="⮚"/>
              <a:defRPr sz="2200"/>
            </a:lvl1pPr>
            <a:lvl2pPr marL="914400" lvl="1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2pPr>
            <a:lvl3pPr marL="1371600" lvl="2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3pPr>
            <a:lvl4pPr marL="1828800" lvl="3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4pPr>
            <a:lvl5pPr marL="2286000" lvl="4" indent="-30988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280"/>
              <a:buChar char="⮚"/>
              <a:defRPr sz="16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Arial" panose="020B0604020202020204"/>
              <a:buNone/>
              <a:defRPr sz="5600" b="1">
                <a:solidFill>
                  <a:srgbClr val="4CE0EA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Autofit/>
          </a:bodyPr>
          <a:lstStyle>
            <a:lvl1pPr marR="45720" lvl="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4pPr>
            <a:lvl5pPr lvl="4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/>
            </a:lvl5pPr>
            <a:lvl6pPr lvl="5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Arial" panose="020B0604020202020204"/>
              <a:buNone/>
              <a:defRPr sz="5600" b="1" cap="none">
                <a:solidFill>
                  <a:srgbClr val="4AE3AC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1760"/>
              <a:buNone/>
              <a:defRPr sz="22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>
            <a:off x="609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2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2"/>
          </p:nvPr>
        </p:nvSpPr>
        <p:spPr>
          <a:xfrm>
            <a:off x="6197600" y="1920085"/>
            <a:ext cx="53848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1pPr>
            <a:lvl2pPr marL="914400" lvl="1" indent="-35052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2pPr>
            <a:lvl3pPr marL="1371600" lvl="2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3pPr>
            <a:lvl4pPr marL="1828800" lvl="3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Arial" panose="020B0604020202020204"/>
              <a:buNone/>
              <a:defRPr sz="5000" b="0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 panose="020B0604020202020204"/>
              <a:buNone/>
              <a:defRPr sz="2600" b="0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body" idx="1"/>
          </p:nvPr>
        </p:nvSpPr>
        <p:spPr>
          <a:xfrm>
            <a:off x="914400" y="1676400"/>
            <a:ext cx="36576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None/>
              <a:defRPr sz="9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2"/>
          </p:nvPr>
        </p:nvSpPr>
        <p:spPr>
          <a:xfrm>
            <a:off x="4766733" y="1676400"/>
            <a:ext cx="6815667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Autofit/>
          </a:bodyPr>
          <a:lstStyle>
            <a:lvl1pPr marL="457200" lvl="0" indent="-37084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Char char="⮚"/>
              <a:defRPr sz="2800"/>
            </a:lvl1pPr>
            <a:lvl2pPr marL="914400" lvl="1" indent="-36068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080"/>
              <a:buChar char="⮚"/>
              <a:defRPr sz="2600"/>
            </a:lvl2pPr>
            <a:lvl3pPr marL="1371600" lvl="2" indent="-35052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20"/>
              <a:buChar char="⮚"/>
              <a:defRPr sz="2400"/>
            </a:lvl3pPr>
            <a:lvl4pPr marL="1828800" lvl="3" indent="-330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⮚"/>
              <a:defRPr sz="2000"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 sz="18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/>
          <p:nvPr/>
        </p:nvSpPr>
        <p:spPr>
          <a:xfrm rot="-10380000" flipH="1">
            <a:off x="4220633" y="1108075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2" name="Google Shape;92;p16"/>
          <p:cNvSpPr/>
          <p:nvPr/>
        </p:nvSpPr>
        <p:spPr>
          <a:xfrm rot="-10380000" flipH="1">
            <a:off x="10672234" y="5359401"/>
            <a:ext cx="207433" cy="155575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3" name="Google Shape;93;p16"/>
          <p:cNvSpPr/>
          <p:nvPr/>
        </p:nvSpPr>
        <p:spPr>
          <a:xfrm rot="10800000" flipH="1">
            <a:off x="-12700" y="5816600"/>
            <a:ext cx="1221740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3921"/>
                </a:srgbClr>
              </a:gs>
              <a:gs pos="100000">
                <a:srgbClr val="00E9F7">
                  <a:alpha val="54117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4" name="Google Shape;94;p16"/>
          <p:cNvSpPr/>
          <p:nvPr/>
        </p:nvSpPr>
        <p:spPr>
          <a:xfrm rot="10800000" flipH="1">
            <a:off x="5842000" y="6219826"/>
            <a:ext cx="63500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019"/>
                </a:srgbClr>
              </a:gs>
              <a:gs pos="80000">
                <a:srgbClr val="0099E4">
                  <a:alpha val="43921"/>
                </a:srgbClr>
              </a:gs>
              <a:gs pos="100000">
                <a:srgbClr val="0099E4">
                  <a:alpha val="4392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5" name="Google Shape;95;p16"/>
          <p:cNvSpPr txBox="1"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 panose="020B0604020202020204"/>
              <a:buNone/>
              <a:defRPr sz="2000" b="1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1"/>
          </p:nvPr>
        </p:nvSpPr>
        <p:spPr>
          <a:xfrm>
            <a:off x="812800" y="2828785"/>
            <a:ext cx="29464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40"/>
              <a:buFont typeface="Arial" panose="020B0604020202020204"/>
              <a:buNone/>
              <a:defRPr sz="1300"/>
            </a:lvl1pPr>
            <a:lvl2pPr marL="914400" lvl="1" indent="-28956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960"/>
              <a:buChar char="⮚"/>
              <a:defRPr sz="1200"/>
            </a:lvl2pPr>
            <a:lvl3pPr marL="1371600" lvl="2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⮚"/>
              <a:defRPr sz="1000"/>
            </a:lvl3pPr>
            <a:lvl4pPr marL="1828800" lvl="3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4pPr>
            <a:lvl5pPr marL="2286000" lvl="4" indent="-27432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720"/>
              <a:buChar char="⮚"/>
              <a:defRPr sz="900"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>
            <a:spLocks noGrp="1"/>
          </p:cNvSpPr>
          <p:nvPr>
            <p:ph type="pic" idx="2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1"/>
          </p:nvPr>
        </p:nvSpPr>
        <p:spPr>
          <a:xfrm rot="5400000">
            <a:off x="3901282" y="-1356518"/>
            <a:ext cx="4389437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 rot="5400000">
            <a:off x="7604919" y="2148684"/>
            <a:ext cx="5211763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body" idx="1"/>
          </p:nvPr>
        </p:nvSpPr>
        <p:spPr>
          <a:xfrm rot="5400000">
            <a:off x="2016919" y="-492917"/>
            <a:ext cx="5211763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1pPr>
            <a:lvl2pPr marL="914400" lvl="1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2pPr>
            <a:lvl3pPr marL="1371600" lvl="2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3pPr>
            <a:lvl4pPr marL="1828800" lvl="3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4pPr>
            <a:lvl5pPr marL="2286000" lvl="4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⮚"/>
              <a:defRPr/>
            </a:lvl5pPr>
            <a:lvl6pPr marL="2743200" lvl="5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4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1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9"/>
          <p:cNvSpPr txBox="1">
            <a:spLocks noGrp="1"/>
          </p:cNvSpPr>
          <p:nvPr>
            <p:ph type="ftr" idx="11"/>
          </p:nvPr>
        </p:nvSpPr>
        <p:spPr>
          <a:xfrm>
            <a:off x="9652000" y="6477000"/>
            <a:ext cx="1930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5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12191975" cy="6857986"/>
          </a:xfrm>
          <a:prstGeom prst="rect">
            <a:avLst/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5078174" y="1000311"/>
            <a:ext cx="2035650" cy="51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rgbClr val="0E6EC6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1253767" y="2609333"/>
            <a:ext cx="9684465" cy="17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609600" y="70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3200" b="0" i="0" u="none" strike="noStrike" cap="none">
                <a:solidFill>
                  <a:schemeClr val="accen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5000" b="0" i="0" u="none" strike="noStrike" cap="none">
                <a:solidFill>
                  <a:schemeClr val="dk2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609600" y="1935164"/>
            <a:ext cx="10972800" cy="4389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⮚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2004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0988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 panose="020B0604020202020204"/>
              <a:buChar char="•"/>
              <a:defRPr sz="1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body" idx="1"/>
          </p:nvPr>
        </p:nvSpPr>
        <p:spPr>
          <a:xfrm>
            <a:off x="1472513" y="2121013"/>
            <a:ext cx="4040100" cy="6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60"/>
              <a:buNone/>
            </a:pPr>
            <a:endParaRPr sz="3200">
              <a:solidFill>
                <a:srgbClr val="B9077E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B9077E"/>
              </a:buClr>
              <a:buSzPts val="2560"/>
              <a:buNone/>
            </a:pPr>
            <a:r>
              <a:rPr lang="en-US" sz="3200">
                <a:solidFill>
                  <a:srgbClr val="B9077E"/>
                </a:solidFill>
              </a:rPr>
              <a:t>    </a:t>
            </a:r>
            <a:endParaRPr sz="3200"/>
          </a:p>
        </p:txBody>
      </p:sp>
      <p:pic>
        <p:nvPicPr>
          <p:cNvPr id="122" name="Google Shape;122;p20" descr="klogo copy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286851" y="1589512"/>
            <a:ext cx="1374775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 descr="kec2blackborder png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87859" y="4413708"/>
            <a:ext cx="1479550" cy="18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0"/>
          <p:cNvSpPr txBox="1"/>
          <p:nvPr/>
        </p:nvSpPr>
        <p:spPr>
          <a:xfrm>
            <a:off x="3278198" y="0"/>
            <a:ext cx="90351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KONGU ENGINEERING COLLEGE</a:t>
            </a:r>
            <a:r>
              <a:rPr lang="en-US" sz="1800" b="1" dirty="0">
                <a:solidFill>
                  <a:srgbClr val="4F81BD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1800" b="1">
              <a:solidFill>
                <a:srgbClr val="4F81BD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54632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PERUNDURAI ERODE-638060</a:t>
            </a:r>
            <a:endParaRPr sz="1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180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5207083" y="976486"/>
            <a:ext cx="5491500" cy="997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Computer Science and Engineering</a:t>
            </a: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lang="en-US" sz="1800" b="1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FINAL YEAR</a:t>
            </a: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PROJECT</a:t>
            </a:r>
            <a:endParaRPr sz="2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3638777" y="2204270"/>
            <a:ext cx="8553223" cy="32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8255" marR="5080" lvl="0" indent="-1266190" algn="ctr"/>
            <a:r>
              <a:rPr lang="en-US" sz="2000" b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PREDICTIVE VEHICLE MAINTENANCE WITH ROAD ANALYSIS</a:t>
            </a:r>
            <a:endParaRPr sz="2000" b="1" dirty="0">
              <a:solidFill>
                <a:srgbClr val="FF0000"/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127" name="Google Shape;127;p20"/>
          <p:cNvSpPr txBox="1"/>
          <p:nvPr/>
        </p:nvSpPr>
        <p:spPr>
          <a:xfrm>
            <a:off x="6781800" y="2965631"/>
            <a:ext cx="2265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 :</a:t>
            </a:r>
            <a:endParaRPr sz="20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7010004" y="4810035"/>
            <a:ext cx="22659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GUIDE:</a:t>
            </a:r>
            <a:endParaRPr sz="2000" b="1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0" name="Google Shape;130;p2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5039D3-C53C-2CAC-C35F-EFC267FBD7CF}"/>
              </a:ext>
            </a:extLst>
          </p:cNvPr>
          <p:cNvSpPr txBox="1"/>
          <p:nvPr/>
        </p:nvSpPr>
        <p:spPr>
          <a:xfrm>
            <a:off x="6801353" y="3437389"/>
            <a:ext cx="43393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MEDHUNA P   23CSR127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PRAVEENA S  23CSR166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RAGAVI K       23CSR169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671D49-3653-D051-C4C9-4FA4911FB043}"/>
              </a:ext>
            </a:extLst>
          </p:cNvPr>
          <p:cNvSpPr txBox="1"/>
          <p:nvPr/>
        </p:nvSpPr>
        <p:spPr>
          <a:xfrm>
            <a:off x="6494096" y="5305004"/>
            <a:ext cx="33036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MR T ARUNKUMAR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 txBox="1">
            <a:spLocks noGrp="1"/>
          </p:cNvSpPr>
          <p:nvPr>
            <p:ph type="title"/>
          </p:nvPr>
        </p:nvSpPr>
        <p:spPr>
          <a:xfrm>
            <a:off x="1404256" y="787092"/>
            <a:ext cx="8107491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/>
            <a:r>
              <a:rPr lang="en-IN" sz="2800" b="1" dirty="0">
                <a:solidFill>
                  <a:schemeClr val="bg2"/>
                </a:solidFill>
                <a:latin typeface="+mn-lt"/>
                <a:ea typeface="Times New Roman" panose="02020603050405020304"/>
                <a:cs typeface="Arial" pitchFamily="34" charset="0"/>
                <a:sym typeface="Times New Roman" panose="02020603050405020304"/>
              </a:rPr>
              <a:t>PROBLEM STATEMENT</a:t>
            </a:r>
            <a:endParaRPr sz="2800" b="1" dirty="0">
              <a:solidFill>
                <a:schemeClr val="bg2"/>
              </a:solidFill>
              <a:latin typeface="+mn-lt"/>
              <a:ea typeface="Times New Roman" panose="02020603050405020304"/>
              <a:cs typeface="Arial" pitchFamily="34" charset="0"/>
              <a:sym typeface="Times New Roman" panose="02020603050405020304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800"/>
                <a:buNone/>
              </a:pPr>
              <a:t>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5484DB-2BFC-0D43-F9D2-94FC7AA3DD2A}"/>
              </a:ext>
            </a:extLst>
          </p:cNvPr>
          <p:cNvSpPr txBox="1"/>
          <p:nvPr/>
        </p:nvSpPr>
        <p:spPr>
          <a:xfrm>
            <a:off x="1846174" y="1483567"/>
            <a:ext cx="9219931" cy="4611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Traditional vehicle maintenance is based on fixed service schedules and mileage intervals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 Unexpected vehicle failures lead to increased maintenance costs and operational downtime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Poor road conditions such as potholes and rough surfaces accelerate vehicle component wear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Existing maintenance prediction systems do not consider the impact of road conditions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Lack of real-time monitoring reduces the accuracy of fault detection and maintenance planning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Need for an intelligent system that combines road analysis and predictive maintenance for improved vehicle reliability and safety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532" y="972319"/>
            <a:ext cx="6211868" cy="430887"/>
          </a:xfrm>
        </p:spPr>
        <p:txBody>
          <a:bodyPr/>
          <a:lstStyle/>
          <a:p>
            <a:r>
              <a:rPr lang="en-US" sz="2800" b="1" dirty="0">
                <a:solidFill>
                  <a:schemeClr val="bg2"/>
                </a:solidFill>
                <a:latin typeface="+mn-lt"/>
              </a:rPr>
              <a:t>PROPOSED SOLUTION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1406012" y="1689843"/>
            <a:ext cx="10019071" cy="4611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Collect vehicle maintenance and road condition datasets from publicly available sources.</a:t>
            </a:r>
          </a:p>
          <a:p>
            <a:pPr algn="just"/>
            <a:endParaRPr lang="en-IN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 err="1"/>
              <a:t>Analyze</a:t>
            </a:r>
            <a:r>
              <a:rPr lang="en-IN" sz="1800" dirty="0"/>
              <a:t> vehicle parameters and road condition data to identify factors affecting vehicle health.</a:t>
            </a:r>
          </a:p>
          <a:p>
            <a:pPr algn="just"/>
            <a:endParaRPr lang="en-IN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Classify road surface conditions using machine learning techniques.</a:t>
            </a:r>
          </a:p>
          <a:p>
            <a:pPr algn="just"/>
            <a:endParaRPr lang="en-IN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Integrate vehicle and road condition data into a unified predictive maintenance framework. </a:t>
            </a:r>
          </a:p>
          <a:p>
            <a:pPr algn="just"/>
            <a:endParaRPr lang="en-IN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Predict vehicle maintenance requirements and detect potential failures at an early stage.</a:t>
            </a:r>
          </a:p>
          <a:p>
            <a:pPr algn="just"/>
            <a:endParaRPr lang="en-IN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Generate intelligent maintenance alerts and maintenance recommendations based on prediction results.</a:t>
            </a:r>
          </a:p>
          <a:p>
            <a:pPr algn="just"/>
            <a:endParaRPr lang="en-IN" sz="1800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800" dirty="0"/>
              <a:t>Improve vehicle reliability, reduce maintenance costs, and support proactive maintenance planning through an AI-based integrated solution.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endParaRPr lang="en-US" sz="1800" dirty="0">
              <a:latin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0532" y="972319"/>
            <a:ext cx="6211868" cy="861774"/>
          </a:xfrm>
        </p:spPr>
        <p:txBody>
          <a:bodyPr/>
          <a:lstStyle/>
          <a:p>
            <a:r>
              <a:rPr lang="en-US" sz="2800" b="1" dirty="0">
                <a:solidFill>
                  <a:schemeClr val="bg2"/>
                </a:solidFill>
                <a:latin typeface="+mn-lt"/>
              </a:rPr>
              <a:t>LITERATURE SURVEY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8EE8246-E99B-21C3-F8C6-CFE855EA66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4258227"/>
              </p:ext>
            </p:extLst>
          </p:nvPr>
        </p:nvGraphicFramePr>
        <p:xfrm>
          <a:off x="1560532" y="1729000"/>
          <a:ext cx="9704439" cy="3908937"/>
        </p:xfrm>
        <a:graphic>
          <a:graphicData uri="http://schemas.openxmlformats.org/drawingml/2006/table">
            <a:tbl>
              <a:tblPr/>
              <a:tblGrid>
                <a:gridCol w="1752939">
                  <a:extLst>
                    <a:ext uri="{9D8B030D-6E8A-4147-A177-3AD203B41FA5}">
                      <a16:colId xmlns:a16="http://schemas.microsoft.com/office/drawing/2014/main" val="1565045778"/>
                    </a:ext>
                  </a:extLst>
                </a:gridCol>
                <a:gridCol w="3510116">
                  <a:extLst>
                    <a:ext uri="{9D8B030D-6E8A-4147-A177-3AD203B41FA5}">
                      <a16:colId xmlns:a16="http://schemas.microsoft.com/office/drawing/2014/main" val="4031106125"/>
                    </a:ext>
                  </a:extLst>
                </a:gridCol>
                <a:gridCol w="2015274">
                  <a:extLst>
                    <a:ext uri="{9D8B030D-6E8A-4147-A177-3AD203B41FA5}">
                      <a16:colId xmlns:a16="http://schemas.microsoft.com/office/drawing/2014/main" val="156356860"/>
                    </a:ext>
                  </a:extLst>
                </a:gridCol>
                <a:gridCol w="2426110">
                  <a:extLst>
                    <a:ext uri="{9D8B030D-6E8A-4147-A177-3AD203B41FA5}">
                      <a16:colId xmlns:a16="http://schemas.microsoft.com/office/drawing/2014/main" val="2190966312"/>
                    </a:ext>
                  </a:extLst>
                </a:gridCol>
              </a:tblGrid>
              <a:tr h="3356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Author &amp; Year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Methodology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tx1"/>
                          </a:solidFill>
                        </a:rPr>
                        <a:t>Limitation</a:t>
                      </a: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0168085"/>
                  </a:ext>
                </a:extLst>
              </a:tr>
              <a:tr h="1165046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Mahiyudin</a:t>
                      </a:r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 et al.</a:t>
                      </a:r>
                    </a:p>
                    <a:p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Eng. Proc., 2025</a:t>
                      </a:r>
                    </a:p>
                    <a:p>
                      <a:pPr>
                        <a:buNone/>
                      </a:pP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DT, RF, GB, Naïve Bayes, KNN, Ensemble (DT+RF+GB); SMOTE for class imbalance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 acc. (DT, 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</a:t>
                      </a: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99.58% acc. (GB, bal.)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Recall = 100%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dataset only; overfitting risk on imbalanced data. No time-series or DL models.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820594"/>
                  </a:ext>
                </a:extLst>
              </a:tr>
              <a:tr h="1165046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Moon &amp; Park</a:t>
                      </a:r>
                    </a:p>
                    <a:p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Sensors, 2024</a:t>
                      </a:r>
                    </a:p>
                    <a:p>
                      <a:pPr>
                        <a:buNone/>
                      </a:pP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(Linear, Gaussian, Poly kernels), soft-margin, one-vs-one &amp; one-vs-all, sigmoid posterior prob.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&lt;3% (train)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&lt;4% (test)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AUC = 0.9995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SVM used; no other ML compared. Road pavement thermal properties not considered.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0832659"/>
                  </a:ext>
                </a:extLst>
              </a:tr>
              <a:tr h="1243154">
                <a:tc>
                  <a:txBody>
                    <a:bodyPr/>
                    <a:lstStyle/>
                    <a:p>
                      <a:r>
                        <a:rPr lang="en-IN" sz="14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Errezgouny</a:t>
                      </a:r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 et al.</a:t>
                      </a:r>
                    </a:p>
                    <a:p>
                      <a:r>
                        <a:rPr lang="en-IN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 panose="020B0604020202020204"/>
                        </a:rPr>
                        <a:t>Decision Analytics Journal, 2025</a:t>
                      </a:r>
                    </a:p>
                    <a:p>
                      <a:pPr>
                        <a:buNone/>
                      </a:pP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LSTM + K-means on unlabeled OBD time-series; Pearson corr. for feature selection; TF/</a:t>
                      </a:r>
                      <a:r>
                        <a:rPr lang="en-US" sz="1400" dirty="0" err="1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Keras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97.5% (engine load)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= 96.19% (RPM)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= 3.16%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IN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tabLst/>
                        <a:defRPr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vehicle only; fixed K limits adaptability. No RUL estimation or fault diagnosis.</a:t>
                      </a:r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  <a:p>
                      <a:pPr>
                        <a:buNone/>
                      </a:pPr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32434" marR="32434" marT="16217" marB="162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5431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3961" y="1046964"/>
            <a:ext cx="3888545" cy="430887"/>
          </a:xfrm>
        </p:spPr>
        <p:txBody>
          <a:bodyPr/>
          <a:lstStyle/>
          <a:p>
            <a:r>
              <a:rPr lang="en-US" sz="2800" b="1" dirty="0">
                <a:solidFill>
                  <a:schemeClr val="bg2"/>
                </a:solidFill>
                <a:latin typeface="+mn-lt"/>
              </a:rPr>
              <a:t>RESEARCH GAP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1381445" y="1665438"/>
            <a:ext cx="10200955" cy="4439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mainly use vehicle operational and maintenance data for failure prediction.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Road condition analysis and vehicle maintenance prediction are usually addressed independently.</a:t>
            </a:r>
          </a:p>
          <a:p>
            <a:pPr lvl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effect of road quality on vehicle component degradation is insufficiently explored.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integrated frameworks combining road analysis and predictive maintenance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 studies integrate road condition information with vehicle maintenance datasets in a single predictive framework.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AI-based integrated system that combines vehicle and road data to improve maintenance prediction and vehicle reliability.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1027" y="970841"/>
            <a:ext cx="8781388" cy="1415772"/>
          </a:xfrm>
        </p:spPr>
        <p:txBody>
          <a:bodyPr/>
          <a:lstStyle/>
          <a:p>
            <a:r>
              <a:rPr lang="en-US" sz="2800" b="1" dirty="0">
                <a:solidFill>
                  <a:schemeClr val="bg2"/>
                </a:solidFill>
                <a:latin typeface="+mn-lt"/>
              </a:rPr>
              <a:t>OBJECTIVES</a:t>
            </a:r>
            <a:br>
              <a:rPr lang="en-US" dirty="0"/>
            </a:br>
            <a:br>
              <a:rPr lang="en-US" dirty="0"/>
            </a:b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8B0DB7-F800-1C36-0703-90757192E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4189168-6217-9CBE-1D9E-7193AAEC31F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0" y="3234813"/>
            <a:ext cx="5545394" cy="21483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966452" y="1876406"/>
            <a:ext cx="9004521" cy="33665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vehicle operational data and road condition data to identify factors influencing vehicle health.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Classify road surface conditions using machine learning techniques.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Predict vehicle maintenance requirements before component failure occurs.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potential vehicle faults at an early stage to support preventive maintenance.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intelligent maintenance alerts and recommendations based on prediction results.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vehicle reliability and reduce maintenance costs by integrating road analysis with predictive maintenance.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43134" y="4245629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2000" b="1" dirty="0">
              <a:solidFill>
                <a:srgbClr val="FF0000"/>
              </a:solidFill>
            </a:endParaRPr>
          </a:p>
          <a:p>
            <a:br>
              <a:rPr lang="en-US" sz="2000" b="1" dirty="0">
                <a:solidFill>
                  <a:srgbClr val="FF0000"/>
                </a:solidFill>
              </a:rPr>
            </a:br>
            <a:br>
              <a:rPr lang="en-US" sz="2000" b="1" dirty="0">
                <a:solidFill>
                  <a:srgbClr val="FF0000"/>
                </a:solidFill>
              </a:rPr>
            </a:br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9254" y="895969"/>
            <a:ext cx="5292985" cy="430887"/>
          </a:xfrm>
        </p:spPr>
        <p:txBody>
          <a:bodyPr/>
          <a:lstStyle/>
          <a:p>
            <a:r>
              <a:rPr lang="en-US" sz="2800" b="1" dirty="0">
                <a:solidFill>
                  <a:schemeClr val="bg2"/>
                </a:solidFill>
                <a:latin typeface="+mn-lt"/>
              </a:rPr>
              <a:t>NOVELTY</a:t>
            </a:r>
            <a:endParaRPr lang="en-IN" sz="2800" b="1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F8E835-58FF-59CF-A5A4-3FC0EF55BC01}"/>
              </a:ext>
            </a:extLst>
          </p:cNvPr>
          <p:cNvSpPr txBox="1"/>
          <p:nvPr/>
        </p:nvSpPr>
        <p:spPr>
          <a:xfrm>
            <a:off x="2379709" y="1859339"/>
            <a:ext cx="87560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/>
              <a:t> </a:t>
            </a:r>
            <a:r>
              <a:rPr lang="en-US" sz="1800" dirty="0"/>
              <a:t>Integrated Vehicle Maintenance and Road Analysis System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Considers road surface impact on vehicle health assessment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Uses AI and Machine Learning for accurate maintenance forecasting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Provides real-time monitoring and early fault detection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Generates proactive maintenance recommendations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Reduces breakdowns, maintenance costs, and vehicle downtime</a:t>
            </a:r>
            <a:endParaRPr lang="en-US" sz="1800" dirty="0">
              <a:solidFill>
                <a:schemeClr val="tx1"/>
              </a:solidFill>
              <a:cs typeface="Arial" charset="0"/>
            </a:endParaRPr>
          </a:p>
          <a:p>
            <a:pPr algn="just">
              <a:lnSpc>
                <a:spcPct val="200000"/>
              </a:lnSpc>
            </a:pPr>
            <a:endParaRPr lang="en-IN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5970" y="869683"/>
            <a:ext cx="2544936" cy="430887"/>
          </a:xfrm>
        </p:spPr>
        <p:txBody>
          <a:bodyPr/>
          <a:lstStyle/>
          <a:p>
            <a:r>
              <a:rPr lang="en-IN" sz="2800" b="1" dirty="0">
                <a:solidFill>
                  <a:schemeClr val="bg2"/>
                </a:solidFill>
              </a:rPr>
              <a:t>CONCLUSION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7B169-66C1-3232-D452-64C22F977FA6}"/>
              </a:ext>
            </a:extLst>
          </p:cNvPr>
          <p:cNvSpPr txBox="1"/>
          <p:nvPr/>
        </p:nvSpPr>
        <p:spPr>
          <a:xfrm>
            <a:off x="1887793" y="1876450"/>
            <a:ext cx="969460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Predictive maintenance helps identify vehicle issues before failures occur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Road condition analysis improves the accuracy of maintenance prediction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The proposed system enables proactive maintenance and fault detection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Integration of AI techniques enhances vehicle safety and reliability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Reduces maintenance costs, downtime, and unexpected breakdowns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/>
              <a:t> Supports the development of smarter and more efficient transportation systems</a:t>
            </a:r>
            <a:endParaRPr lang="en-US" sz="1800" dirty="0">
              <a:effectLst/>
              <a:latin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79797" y="2577186"/>
            <a:ext cx="3897875" cy="738664"/>
          </a:xfrm>
        </p:spPr>
        <p:txBody>
          <a:bodyPr/>
          <a:lstStyle/>
          <a:p>
            <a:pPr algn="ctr"/>
            <a:r>
              <a:rPr lang="en-IN" sz="4800" b="1" dirty="0">
                <a:solidFill>
                  <a:schemeClr val="bg2"/>
                </a:solidFill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723</Words>
  <Application>Microsoft Office PowerPoint</Application>
  <PresentationFormat>Widescreen</PresentationFormat>
  <Paragraphs>103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Noto Sans Symbols</vt:lpstr>
      <vt:lpstr>Times New Roman</vt:lpstr>
      <vt:lpstr>Office Theme</vt:lpstr>
      <vt:lpstr>Flow</vt:lpstr>
      <vt:lpstr>PREDICTIVE VEHICLE MAINTENANCE WITH ROAD ANALYSIS</vt:lpstr>
      <vt:lpstr>PROBLEM STATEMENT</vt:lpstr>
      <vt:lpstr>PROPOSED SOLUTION</vt:lpstr>
      <vt:lpstr>LITERATURE SURVEY</vt:lpstr>
      <vt:lpstr>RESEARCH GAP</vt:lpstr>
      <vt:lpstr>OBJECTIVES  </vt:lpstr>
      <vt:lpstr>NOVELTY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StockSync – Inventory Management System</dc:title>
  <dc:creator>Danush Prakash</dc:creator>
  <cp:lastModifiedBy>ragavi k</cp:lastModifiedBy>
  <cp:revision>39</cp:revision>
  <dcterms:created xsi:type="dcterms:W3CDTF">2025-08-21T08:50:15Z</dcterms:created>
  <dcterms:modified xsi:type="dcterms:W3CDTF">2026-06-25T02:15:59Z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B1ADB270D7F749C49A6E7A7B2F8B4C29_12</vt:lpwstr>
  </property>
  <property fmtid="{D5CDD505-2E9C-101B-9397-08002B2CF9AE}" pid="3" name="KSOProductBuildVer">
    <vt:lpwstr>1033-12.2.0.22222</vt:lpwstr>
  </property>
</Properties>
</file>